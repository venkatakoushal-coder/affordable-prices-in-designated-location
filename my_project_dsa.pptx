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314" r:id="rId3"/>
    <p:sldId id="323" r:id="rId4"/>
    <p:sldId id="266" r:id="rId5"/>
    <p:sldId id="341" r:id="rId6"/>
    <p:sldId id="342" r:id="rId7"/>
    <p:sldId id="343" r:id="rId8"/>
    <p:sldId id="344" r:id="rId9"/>
    <p:sldId id="346" r:id="rId10"/>
    <p:sldId id="340" r:id="rId11"/>
    <p:sldId id="347" r:id="rId12"/>
    <p:sldId id="348"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A1DDDA-3FBC-4B1B-B76E-1F06C4F70C7B}" v="13" dt="2026-03-11T16:26:59.2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73" d="100"/>
          <a:sy n="73" d="100"/>
        </p:scale>
        <p:origin x="72" y="413"/>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ushal konnur" userId="429f8f67305ec229" providerId="LiveId" clId="{E629A7C8-4A37-40B0-B7E3-2A3FC0B62F4F}"/>
    <pc:docChg chg="undo custSel delSld modSld">
      <pc:chgData name="koushal konnur" userId="429f8f67305ec229" providerId="LiveId" clId="{E629A7C8-4A37-40B0-B7E3-2A3FC0B62F4F}" dt="2026-03-12T03:01:02.025" v="153" actId="20577"/>
      <pc:docMkLst>
        <pc:docMk/>
      </pc:docMkLst>
      <pc:sldChg chg="modSp mod">
        <pc:chgData name="koushal konnur" userId="429f8f67305ec229" providerId="LiveId" clId="{E629A7C8-4A37-40B0-B7E3-2A3FC0B62F4F}" dt="2026-03-12T03:01:02.025" v="153" actId="20577"/>
        <pc:sldMkLst>
          <pc:docMk/>
          <pc:sldMk cId="1017016331" sldId="314"/>
        </pc:sldMkLst>
        <pc:spChg chg="mod">
          <ac:chgData name="koushal konnur" userId="429f8f67305ec229" providerId="LiveId" clId="{E629A7C8-4A37-40B0-B7E3-2A3FC0B62F4F}" dt="2026-03-11T16:21:23.023" v="42" actId="20577"/>
          <ac:spMkLst>
            <pc:docMk/>
            <pc:sldMk cId="1017016331" sldId="314"/>
            <ac:spMk id="2" creationId="{3C500A09-BF95-A121-71A4-33FFE91ACA86}"/>
          </ac:spMkLst>
        </pc:spChg>
        <pc:spChg chg="mod">
          <ac:chgData name="koushal konnur" userId="429f8f67305ec229" providerId="LiveId" clId="{E629A7C8-4A37-40B0-B7E3-2A3FC0B62F4F}" dt="2026-03-11T16:21:25.643" v="44" actId="20577"/>
          <ac:spMkLst>
            <pc:docMk/>
            <pc:sldMk cId="1017016331" sldId="314"/>
            <ac:spMk id="3" creationId="{7AEAE0CE-45A1-A1FF-31F4-66CECAEF3059}"/>
          </ac:spMkLst>
        </pc:spChg>
        <pc:spChg chg="mod">
          <ac:chgData name="koushal konnur" userId="429f8f67305ec229" providerId="LiveId" clId="{E629A7C8-4A37-40B0-B7E3-2A3FC0B62F4F}" dt="2026-03-12T03:01:02.025" v="153" actId="20577"/>
          <ac:spMkLst>
            <pc:docMk/>
            <pc:sldMk cId="1017016331" sldId="314"/>
            <ac:spMk id="13" creationId="{3F9DE7D0-41AC-90DD-3065-235240261B1B}"/>
          </ac:spMkLst>
        </pc:spChg>
      </pc:sldChg>
      <pc:sldChg chg="modSp mod">
        <pc:chgData name="koushal konnur" userId="429f8f67305ec229" providerId="LiveId" clId="{E629A7C8-4A37-40B0-B7E3-2A3FC0B62F4F}" dt="2026-03-11T16:25:58.703" v="107"/>
        <pc:sldMkLst>
          <pc:docMk/>
          <pc:sldMk cId="2715783799" sldId="323"/>
        </pc:sldMkLst>
        <pc:spChg chg="mod">
          <ac:chgData name="koushal konnur" userId="429f8f67305ec229" providerId="LiveId" clId="{E629A7C8-4A37-40B0-B7E3-2A3FC0B62F4F}" dt="2026-03-11T16:25:58.703" v="107"/>
          <ac:spMkLst>
            <pc:docMk/>
            <pc:sldMk cId="2715783799" sldId="323"/>
            <ac:spMk id="9" creationId="{0BAA4F36-AB00-F2C4-B47F-6381355DE604}"/>
          </ac:spMkLst>
        </pc:spChg>
      </pc:sldChg>
      <pc:sldChg chg="addSp delSp modSp mod">
        <pc:chgData name="koushal konnur" userId="429f8f67305ec229" providerId="LiveId" clId="{E629A7C8-4A37-40B0-B7E3-2A3FC0B62F4F}" dt="2026-03-11T16:28:33.203" v="135" actId="20577"/>
        <pc:sldMkLst>
          <pc:docMk/>
          <pc:sldMk cId="3431953712" sldId="340"/>
        </pc:sldMkLst>
        <pc:spChg chg="mod">
          <ac:chgData name="koushal konnur" userId="429f8f67305ec229" providerId="LiveId" clId="{E629A7C8-4A37-40B0-B7E3-2A3FC0B62F4F}" dt="2026-03-11T16:28:33.203" v="135" actId="20577"/>
          <ac:spMkLst>
            <pc:docMk/>
            <pc:sldMk cId="3431953712" sldId="340"/>
            <ac:spMk id="2" creationId="{37323D68-D41B-9825-3931-B79590C795F8}"/>
          </ac:spMkLst>
        </pc:spChg>
        <pc:spChg chg="add del mod">
          <ac:chgData name="koushal konnur" userId="429f8f67305ec229" providerId="LiveId" clId="{E629A7C8-4A37-40B0-B7E3-2A3FC0B62F4F}" dt="2026-03-11T16:27:22.828" v="112" actId="478"/>
          <ac:spMkLst>
            <pc:docMk/>
            <pc:sldMk cId="3431953712" sldId="340"/>
            <ac:spMk id="8" creationId="{7ACDF275-D2F0-47FA-8467-B6CBB680548A}"/>
          </ac:spMkLst>
        </pc:spChg>
        <pc:spChg chg="add del mod">
          <ac:chgData name="koushal konnur" userId="429f8f67305ec229" providerId="LiveId" clId="{E629A7C8-4A37-40B0-B7E3-2A3FC0B62F4F}" dt="2026-03-11T16:27:48.670" v="117"/>
          <ac:spMkLst>
            <pc:docMk/>
            <pc:sldMk cId="3431953712" sldId="340"/>
            <ac:spMk id="11" creationId="{99E57ABF-2FDA-E1F0-35D4-6C8FFF9270C5}"/>
          </ac:spMkLst>
        </pc:spChg>
        <pc:picChg chg="del mod">
          <ac:chgData name="koushal konnur" userId="429f8f67305ec229" providerId="LiveId" clId="{E629A7C8-4A37-40B0-B7E3-2A3FC0B62F4F}" dt="2026-03-11T16:27:34.834" v="115" actId="478"/>
          <ac:picMkLst>
            <pc:docMk/>
            <pc:sldMk cId="3431953712" sldId="340"/>
            <ac:picMk id="7" creationId="{14D54A7C-0CFD-EBDD-4B67-384CB67ADE02}"/>
          </ac:picMkLst>
        </pc:picChg>
        <pc:picChg chg="del">
          <ac:chgData name="koushal konnur" userId="429f8f67305ec229" providerId="LiveId" clId="{E629A7C8-4A37-40B0-B7E3-2A3FC0B62F4F}" dt="2026-03-11T16:27:34.834" v="115" actId="478"/>
          <ac:picMkLst>
            <pc:docMk/>
            <pc:sldMk cId="3431953712" sldId="340"/>
            <ac:picMk id="10" creationId="{ACB80A73-0CD1-9994-0FD2-117DD695F499}"/>
          </ac:picMkLst>
        </pc:picChg>
        <pc:picChg chg="add mod ord">
          <ac:chgData name="koushal konnur" userId="429f8f67305ec229" providerId="LiveId" clId="{E629A7C8-4A37-40B0-B7E3-2A3FC0B62F4F}" dt="2026-03-11T16:27:55.857" v="120" actId="14100"/>
          <ac:picMkLst>
            <pc:docMk/>
            <pc:sldMk cId="3431953712" sldId="340"/>
            <ac:picMk id="13" creationId="{283EBC59-E9F1-D7B2-3638-FE291E482226}"/>
          </ac:picMkLst>
        </pc:picChg>
        <pc:picChg chg="add mod">
          <ac:chgData name="koushal konnur" userId="429f8f67305ec229" providerId="LiveId" clId="{E629A7C8-4A37-40B0-B7E3-2A3FC0B62F4F}" dt="2026-03-11T16:28:14.450" v="125" actId="14100"/>
          <ac:picMkLst>
            <pc:docMk/>
            <pc:sldMk cId="3431953712" sldId="340"/>
            <ac:picMk id="15" creationId="{D12D9B12-C5DC-1E78-C10A-AA4E5FA0054F}"/>
          </ac:picMkLst>
        </pc:picChg>
        <pc:picChg chg="add del">
          <ac:chgData name="koushal konnur" userId="429f8f67305ec229" providerId="LiveId" clId="{E629A7C8-4A37-40B0-B7E3-2A3FC0B62F4F}" dt="2026-03-11T16:27:34.834" v="115" actId="478"/>
          <ac:picMkLst>
            <pc:docMk/>
            <pc:sldMk cId="3431953712" sldId="340"/>
            <ac:picMk id="17" creationId="{C7BE7944-A899-9B86-EAFE-1702A730EFE9}"/>
          </ac:picMkLst>
        </pc:picChg>
        <pc:picChg chg="add mod">
          <ac:chgData name="koushal konnur" userId="429f8f67305ec229" providerId="LiveId" clId="{E629A7C8-4A37-40B0-B7E3-2A3FC0B62F4F}" dt="2026-03-11T16:28:29.266" v="130" actId="14100"/>
          <ac:picMkLst>
            <pc:docMk/>
            <pc:sldMk cId="3431953712" sldId="340"/>
            <ac:picMk id="18" creationId="{B6CEB0C2-120B-8BB5-C709-767EE3B45D29}"/>
          </ac:picMkLst>
        </pc:picChg>
      </pc:sldChg>
      <pc:sldChg chg="addSp delSp modSp mod">
        <pc:chgData name="koushal konnur" userId="429f8f67305ec229" providerId="LiveId" clId="{E629A7C8-4A37-40B0-B7E3-2A3FC0B62F4F}" dt="2026-03-11T16:25:15.730" v="104" actId="255"/>
        <pc:sldMkLst>
          <pc:docMk/>
          <pc:sldMk cId="3489011149" sldId="342"/>
        </pc:sldMkLst>
        <pc:spChg chg="add del">
          <ac:chgData name="koushal konnur" userId="429f8f67305ec229" providerId="LiveId" clId="{E629A7C8-4A37-40B0-B7E3-2A3FC0B62F4F}" dt="2026-03-11T16:23:24.909" v="75" actId="478"/>
          <ac:spMkLst>
            <pc:docMk/>
            <pc:sldMk cId="3489011149" sldId="342"/>
            <ac:spMk id="2" creationId="{6F7E66C1-0761-4637-EC72-BC4301BB6340}"/>
          </ac:spMkLst>
        </pc:spChg>
        <pc:spChg chg="add del mod">
          <ac:chgData name="koushal konnur" userId="429f8f67305ec229" providerId="LiveId" clId="{E629A7C8-4A37-40B0-B7E3-2A3FC0B62F4F}" dt="2026-03-11T16:25:15.730" v="104" actId="255"/>
          <ac:spMkLst>
            <pc:docMk/>
            <pc:sldMk cId="3489011149" sldId="342"/>
            <ac:spMk id="3" creationId="{9BB5CACB-543F-0AF4-AD33-4AEA26E72908}"/>
          </ac:spMkLst>
        </pc:spChg>
        <pc:spChg chg="add del">
          <ac:chgData name="koushal konnur" userId="429f8f67305ec229" providerId="LiveId" clId="{E629A7C8-4A37-40B0-B7E3-2A3FC0B62F4F}" dt="2026-03-11T16:24:07.101" v="84" actId="478"/>
          <ac:spMkLst>
            <pc:docMk/>
            <pc:sldMk cId="3489011149" sldId="342"/>
            <ac:spMk id="4" creationId="{8C5AD1AD-E98F-C1B3-2282-880E628510B6}"/>
          </ac:spMkLst>
        </pc:spChg>
        <pc:spChg chg="mod">
          <ac:chgData name="koushal konnur" userId="429f8f67305ec229" providerId="LiveId" clId="{E629A7C8-4A37-40B0-B7E3-2A3FC0B62F4F}" dt="2026-03-11T16:24:37.597" v="91" actId="1076"/>
          <ac:spMkLst>
            <pc:docMk/>
            <pc:sldMk cId="3489011149" sldId="342"/>
            <ac:spMk id="8" creationId="{C17383E4-A635-5D2C-0BA9-6A9D4A506E92}"/>
          </ac:spMkLst>
        </pc:spChg>
        <pc:spChg chg="add mod">
          <ac:chgData name="koushal konnur" userId="429f8f67305ec229" providerId="LiveId" clId="{E629A7C8-4A37-40B0-B7E3-2A3FC0B62F4F}" dt="2026-03-11T16:24:04.827" v="83" actId="478"/>
          <ac:spMkLst>
            <pc:docMk/>
            <pc:sldMk cId="3489011149" sldId="342"/>
            <ac:spMk id="9" creationId="{38255590-8FE8-ADB2-D399-A8A2CECA7AD0}"/>
          </ac:spMkLst>
        </pc:spChg>
        <pc:spChg chg="del mod">
          <ac:chgData name="koushal konnur" userId="429f8f67305ec229" providerId="LiveId" clId="{E629A7C8-4A37-40B0-B7E3-2A3FC0B62F4F}" dt="2026-03-11T16:23:24.909" v="75" actId="478"/>
          <ac:spMkLst>
            <pc:docMk/>
            <pc:sldMk cId="3489011149" sldId="342"/>
            <ac:spMk id="13" creationId="{7DD1804C-53BD-8885-28CE-73B6B611C581}"/>
          </ac:spMkLst>
        </pc:spChg>
      </pc:sldChg>
      <pc:sldChg chg="del">
        <pc:chgData name="koushal konnur" userId="429f8f67305ec229" providerId="LiveId" clId="{E629A7C8-4A37-40B0-B7E3-2A3FC0B62F4F}" dt="2026-03-11T16:21:51.998" v="71" actId="47"/>
        <pc:sldMkLst>
          <pc:docMk/>
          <pc:sldMk cId="1906946512" sldId="345"/>
        </pc:sldMkLst>
      </pc:sldChg>
      <pc:sldChg chg="modSp mod">
        <pc:chgData name="koushal konnur" userId="429f8f67305ec229" providerId="LiveId" clId="{E629A7C8-4A37-40B0-B7E3-2A3FC0B62F4F}" dt="2026-03-11T16:27:03.605" v="110" actId="255"/>
        <pc:sldMkLst>
          <pc:docMk/>
          <pc:sldMk cId="2858912175" sldId="347"/>
        </pc:sldMkLst>
        <pc:spChg chg="mod">
          <ac:chgData name="koushal konnur" userId="429f8f67305ec229" providerId="LiveId" clId="{E629A7C8-4A37-40B0-B7E3-2A3FC0B62F4F}" dt="2026-03-11T16:27:03.605" v="110" actId="255"/>
          <ac:spMkLst>
            <pc:docMk/>
            <pc:sldMk cId="2858912175" sldId="347"/>
            <ac:spMk id="3" creationId="{0CE6E436-8E95-3E5A-8740-44D5B2DDDF2B}"/>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Location-Based Price Recommender System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K.V.Koushal</a:t>
            </a:r>
            <a:endParaRPr lang="en-US" sz="9600" dirty="0"/>
          </a:p>
          <a:p>
            <a:pPr marL="0" indent="0" algn="ctr">
              <a:buNone/>
            </a:pPr>
            <a:r>
              <a:rPr lang="en-US" sz="9600" dirty="0"/>
              <a:t>Student ID: 2520030009</a:t>
            </a:r>
            <a:endParaRPr lang="en-US" sz="2400" dirty="0"/>
          </a:p>
          <a:p>
            <a:pPr marL="0" indent="0" algn="ctr">
              <a:buNone/>
            </a:pPr>
            <a:r>
              <a:rPr lang="en-US" sz="11200" dirty="0"/>
              <a:t>Cluster:3</a:t>
            </a:r>
          </a:p>
          <a:p>
            <a:pPr marL="0" indent="0" algn="ctr">
              <a:buNone/>
            </a:pPr>
            <a:r>
              <a:rPr lang="en-US" sz="11200" dirty="0"/>
              <a:t>Section: 12</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575079" y="5242381"/>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Dr. N. Chaitanya Kumar</a:t>
            </a:r>
          </a:p>
          <a:p>
            <a:pPr marL="0" indent="0" algn="ctr">
              <a:buNone/>
            </a:pPr>
            <a:r>
              <a:rPr lang="en-US" sz="8600" dirty="0">
                <a:solidFill>
                  <a:srgbClr val="00B050"/>
                </a:solidFill>
              </a:rPr>
              <a:t>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This project presents a location-based price comparison system developed in Java that enables users to find the most affordable prices for a desired product within their preferred location. The system leverages core Data Structures and Algorithms concepts such as priority queues for price ranking, hash maps for efficient data retrieval, and sorting algorithms to deliver fast and accurate results. By combining location-aware filtering with optimized search techniques, the system minimizes search time while maximizing cost efficiency for the end user. This solution demonstrates the practical application of DSA principles in solving real-world consumer decision-making problems.</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3" name="Content Placeholder 2">
            <a:extLst>
              <a:ext uri="{FF2B5EF4-FFF2-40B4-BE49-F238E27FC236}">
                <a16:creationId xmlns:a16="http://schemas.microsoft.com/office/drawing/2014/main" id="{7E0BA5BA-6F25-A3A6-E895-8199C4E24D20}"/>
              </a:ext>
            </a:extLst>
          </p:cNvPr>
          <p:cNvSpPr>
            <a:spLocks noGrp="1" noChangeArrowheads="1"/>
          </p:cNvSpPr>
          <p:nvPr>
            <p:ph idx="1"/>
          </p:nvPr>
        </p:nvSpPr>
        <p:spPr bwMode="auto">
          <a:xfrm>
            <a:off x="838200" y="2154634"/>
            <a:ext cx="1075839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unified price comparison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must check multiple apps or stores individually to find the lowest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Location-based price variation not handled well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platforms show product prices but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 not compare prices across nearby physical stores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same area.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for users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People must manually search different shops or websites.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real-time updates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Prices in local stores may change but apps may not update quickly.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optimized for local shopping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platforms focus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delivery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cheapest store near the user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smart filtering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cannot easily filter by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 price + availability together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fontScale="55000" lnSpcReduction="20000"/>
          </a:bodyPr>
          <a:lstStyle/>
          <a:p>
            <a:r>
              <a:rPr lang="en-US" b="1" dirty="0">
                <a:latin typeface="Times New Roman" panose="02020603050405020304" pitchFamily="18" charset="0"/>
                <a:cs typeface="Times New Roman" panose="02020603050405020304" pitchFamily="18" charset="0"/>
              </a:rPr>
              <a:t>Location-based price aggregation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Collects prices from </a:t>
            </a:r>
            <a:r>
              <a:rPr lang="en-US" b="1" dirty="0">
                <a:latin typeface="Times New Roman" panose="02020603050405020304" pitchFamily="18" charset="0"/>
                <a:cs typeface="Times New Roman" panose="02020603050405020304" pitchFamily="18" charset="0"/>
              </a:rPr>
              <a:t>multiple nearby stores and platforms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Automatic lowest-price detection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System automatically identifies the </a:t>
            </a:r>
            <a:r>
              <a:rPr lang="en-US" b="1" dirty="0">
                <a:latin typeface="Times New Roman" panose="02020603050405020304" pitchFamily="18" charset="0"/>
                <a:cs typeface="Times New Roman" panose="02020603050405020304" pitchFamily="18" charset="0"/>
              </a:rPr>
              <a:t>cheapest available option</a:t>
            </a:r>
            <a:r>
              <a:rPr lang="en-US" dirty="0">
                <a:latin typeface="Times New Roman" panose="02020603050405020304" pitchFamily="18" charset="0"/>
                <a:cs typeface="Times New Roman" panose="02020603050405020304" pitchFamily="18" charset="0"/>
              </a:rPr>
              <a:t> in the selected area.</a:t>
            </a:r>
          </a:p>
          <a:p>
            <a:r>
              <a:rPr lang="en-US" b="1" dirty="0">
                <a:latin typeface="Times New Roman" panose="02020603050405020304" pitchFamily="18" charset="0"/>
                <a:cs typeface="Times New Roman" panose="02020603050405020304" pitchFamily="18" charset="0"/>
              </a:rPr>
              <a:t>Distance + price optimization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Shows stores with the </a:t>
            </a:r>
            <a:r>
              <a:rPr lang="en-US" b="1" dirty="0">
                <a:latin typeface="Times New Roman" panose="02020603050405020304" pitchFamily="18" charset="0"/>
                <a:cs typeface="Times New Roman" panose="02020603050405020304" pitchFamily="18" charset="0"/>
              </a:rPr>
              <a:t>lowest price within a reasonable distance</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Real-time or frequently updated price data</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Helps users make </a:t>
            </a:r>
            <a:r>
              <a:rPr lang="en-US" b="1" dirty="0">
                <a:latin typeface="Times New Roman" panose="02020603050405020304" pitchFamily="18" charset="0"/>
                <a:cs typeface="Times New Roman" panose="02020603050405020304" pitchFamily="18" charset="0"/>
              </a:rPr>
              <a:t>more accurate purchase decisions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Single platform comparison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Users do not need to check many apps.</a:t>
            </a:r>
          </a:p>
          <a:p>
            <a:r>
              <a:rPr lang="en-US" b="1" dirty="0">
                <a:latin typeface="Times New Roman" panose="02020603050405020304" pitchFamily="18" charset="0"/>
                <a:cs typeface="Times New Roman" panose="02020603050405020304" pitchFamily="18" charset="0"/>
              </a:rPr>
              <a:t>Smart search</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Users enter:</a:t>
            </a:r>
          </a:p>
          <a:p>
            <a:pPr marL="457200" lvl="1" indent="0">
              <a:buNone/>
            </a:pPr>
            <a:r>
              <a:rPr lang="en-US" dirty="0">
                <a:latin typeface="Times New Roman" panose="02020603050405020304" pitchFamily="18" charset="0"/>
                <a:cs typeface="Times New Roman" panose="02020603050405020304" pitchFamily="18" charset="0"/>
              </a:rPr>
              <a:t>Product name</a:t>
            </a:r>
          </a:p>
          <a:p>
            <a:pPr marL="457200" lvl="1" indent="0">
              <a:buNone/>
            </a:pPr>
            <a:r>
              <a:rPr lang="en-US" dirty="0">
                <a:latin typeface="Times New Roman" panose="02020603050405020304" pitchFamily="18" charset="0"/>
                <a:cs typeface="Times New Roman" panose="02020603050405020304" pitchFamily="18" charset="0"/>
              </a:rPr>
              <a:t>Desired location</a:t>
            </a:r>
          </a:p>
          <a:p>
            <a:pPr marL="457200" lvl="1" indent="0">
              <a:buNone/>
            </a:pPr>
            <a:r>
              <a:rPr lang="en-US" dirty="0">
                <a:latin typeface="Times New Roman" panose="02020603050405020304" pitchFamily="18" charset="0"/>
                <a:cs typeface="Times New Roman" panose="02020603050405020304" pitchFamily="18" charset="0"/>
              </a:rPr>
              <a:t>System returns cheapest nearby option.</a:t>
            </a:r>
          </a:p>
          <a:p>
            <a:r>
              <a:rPr lang="en-US" b="1" dirty="0">
                <a:latin typeface="Times New Roman" panose="02020603050405020304" pitchFamily="18" charset="0"/>
                <a:cs typeface="Times New Roman" panose="02020603050405020304" pitchFamily="18" charset="0"/>
              </a:rPr>
              <a:t>User-friendly interface</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Simple search with clear price ranking.</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126680"/>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3" name="Content Placeholder 2">
            <a:extLst>
              <a:ext uri="{FF2B5EF4-FFF2-40B4-BE49-F238E27FC236}">
                <a16:creationId xmlns:a16="http://schemas.microsoft.com/office/drawing/2014/main" id="{9BB5CACB-543F-0AF4-AD33-4AEA26E72908}"/>
              </a:ext>
            </a:extLst>
          </p:cNvPr>
          <p:cNvSpPr>
            <a:spLocks noGrp="1"/>
          </p:cNvSpPr>
          <p:nvPr>
            <p:ph idx="1"/>
          </p:nvPr>
        </p:nvSpPr>
        <p:spPr>
          <a:xfrm>
            <a:off x="838200" y="1254689"/>
            <a:ext cx="10515600" cy="5101661"/>
          </a:xfrm>
        </p:spPr>
        <p:txBody>
          <a:bodyPr>
            <a:normAutofit/>
          </a:bodyPr>
          <a:lstStyle/>
          <a:p>
            <a:r>
              <a:rPr lang="en-US" sz="2000" b="1" dirty="0"/>
              <a:t>Input Layer (Main.java)</a:t>
            </a:r>
            <a:r>
              <a:rPr lang="en-US" sz="2000" dirty="0"/>
              <a:t> — The entry point of the system where the user interacts via a terminal-based menu. It collects the product name and location as inputs, validates them, and passes them to the core logic layer.</a:t>
            </a:r>
          </a:p>
          <a:p>
            <a:r>
              <a:rPr lang="en-US" sz="2000" b="1" dirty="0"/>
              <a:t>Data Model Layer (Deal.java &amp; Product.java)</a:t>
            </a:r>
            <a:r>
              <a:rPr lang="en-US" sz="2000" dirty="0"/>
              <a:t> — Defines the core data structures. Deal holds store, location, and price info while Product groups all deals under a single product name using an </a:t>
            </a:r>
            <a:r>
              <a:rPr lang="en-US" sz="2000" dirty="0" err="1"/>
              <a:t>ArrayList</a:t>
            </a:r>
            <a:r>
              <a:rPr lang="en-US" sz="2000" dirty="0"/>
              <a:t>.</a:t>
            </a:r>
          </a:p>
          <a:p>
            <a:r>
              <a:rPr lang="en-US" sz="2000" b="1" dirty="0"/>
              <a:t>Storage Layer (HashMap in PriceRecommender.java)</a:t>
            </a:r>
            <a:r>
              <a:rPr lang="en-US" sz="2000" dirty="0"/>
              <a:t> — All products are stored in a HashMap&lt;String, Product&gt; where the product name (lowercased) is the key, enabling O(1) average-time lookups regardless of how many products exist.</a:t>
            </a:r>
          </a:p>
          <a:p>
            <a:r>
              <a:rPr lang="en-US" sz="2000" b="1" dirty="0"/>
              <a:t>Processing Layer (</a:t>
            </a:r>
            <a:r>
              <a:rPr lang="en-US" sz="2000" b="1" dirty="0" err="1"/>
              <a:t>PriorityQueue</a:t>
            </a:r>
            <a:r>
              <a:rPr lang="en-US" sz="2000" b="1" dirty="0"/>
              <a:t> / </a:t>
            </a:r>
            <a:r>
              <a:rPr lang="en-US" sz="2000" b="1" dirty="0" err="1"/>
              <a:t>MinHeap</a:t>
            </a:r>
            <a:r>
              <a:rPr lang="en-US" sz="2000" b="1" dirty="0"/>
              <a:t>)</a:t>
            </a:r>
            <a:r>
              <a:rPr lang="en-US" sz="2000" dirty="0"/>
              <a:t> — When a search is triggered, deals matching the given location are inserted into a </a:t>
            </a:r>
            <a:r>
              <a:rPr lang="en-US" sz="2000" dirty="0" err="1"/>
              <a:t>MinHeap</a:t>
            </a:r>
            <a:r>
              <a:rPr lang="en-US" sz="2000" dirty="0"/>
              <a:t> (</a:t>
            </a:r>
            <a:r>
              <a:rPr lang="en-US" sz="2000" dirty="0" err="1"/>
              <a:t>PriorityQueue</a:t>
            </a:r>
            <a:r>
              <a:rPr lang="en-US" sz="2000" dirty="0"/>
              <a:t>) which automatically sorts by price, allowing the system to extract the top 3 cheapest deals in O(n log n) time efficiently.</a:t>
            </a:r>
          </a:p>
          <a:p>
            <a:r>
              <a:rPr lang="en-US" sz="2000" b="1" dirty="0"/>
              <a:t>Display Layer (Main.java)</a:t>
            </a:r>
            <a:r>
              <a:rPr lang="en-US" sz="2000" dirty="0"/>
              <a:t> — The results are formatted and presented back to the user with rank medals, capitalized location names, and formatted prices. A </a:t>
            </a:r>
            <a:r>
              <a:rPr lang="en-US" sz="2000" dirty="0" err="1"/>
              <a:t>TreeMap</a:t>
            </a:r>
            <a:r>
              <a:rPr lang="en-US" sz="2000" dirty="0"/>
              <a:t> is also used in the browse feature to display all products alphabetically.</a:t>
            </a:r>
          </a:p>
          <a:p>
            <a:endParaRPr lang="en-IN" sz="2000" dirty="0"/>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009409" y="28794"/>
            <a:ext cx="10173182" cy="1128009"/>
          </a:xfrm>
        </p:spPr>
        <p:txBody>
          <a:bodyPr/>
          <a:lstStyle/>
          <a:p>
            <a:pPr algn="ctr"/>
            <a:r>
              <a:rPr lang="en-US" b="1" dirty="0">
                <a:latin typeface="Times New Roman" panose="02020603050405020304" pitchFamily="18" charset="0"/>
                <a:cs typeface="Times New Roman" panose="02020603050405020304" pitchFamily="18" charset="0"/>
              </a:rPr>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838200" y="1156803"/>
            <a:ext cx="10515600" cy="5020160"/>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1. User Input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Accepts product name and desired location from the user.</a:t>
            </a:r>
          </a:p>
          <a:p>
            <a:r>
              <a:rPr lang="en-US" b="1" dirty="0">
                <a:latin typeface="Times New Roman" panose="02020603050405020304" pitchFamily="18" charset="0"/>
                <a:cs typeface="Times New Roman" panose="02020603050405020304" pitchFamily="18" charset="0"/>
              </a:rPr>
              <a:t>2. Data Storage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Stores product, store, and price information using Java data structures such as arrays or lists.</a:t>
            </a:r>
          </a:p>
          <a:p>
            <a:r>
              <a:rPr lang="en-US" b="1" dirty="0">
                <a:latin typeface="Times New Roman" panose="02020603050405020304" pitchFamily="18" charset="0"/>
                <a:cs typeface="Times New Roman" panose="02020603050405020304" pitchFamily="18" charset="0"/>
              </a:rPr>
              <a:t>3. Product Search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Searches for the requested product within the stored data.</a:t>
            </a:r>
          </a:p>
          <a:p>
            <a:r>
              <a:rPr lang="en-US" b="1" dirty="0">
                <a:latin typeface="Times New Roman" panose="02020603050405020304" pitchFamily="18" charset="0"/>
                <a:cs typeface="Times New Roman" panose="02020603050405020304" pitchFamily="18" charset="0"/>
              </a:rPr>
              <a:t>4. Location Filter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Filters stores based on the location entered by the user.</a:t>
            </a:r>
          </a:p>
          <a:p>
            <a:r>
              <a:rPr lang="en-US" b="1" dirty="0">
                <a:latin typeface="Times New Roman" panose="02020603050405020304" pitchFamily="18" charset="0"/>
                <a:cs typeface="Times New Roman" panose="02020603050405020304" pitchFamily="18" charset="0"/>
              </a:rPr>
              <a:t>5. Price Comparison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Uses sorting or minimum search algorithms to determine the lowest price.</a:t>
            </a:r>
          </a:p>
          <a:p>
            <a:r>
              <a:rPr lang="en-US" b="1" dirty="0">
                <a:latin typeface="Times New Roman" panose="02020603050405020304" pitchFamily="18" charset="0"/>
                <a:cs typeface="Times New Roman" panose="02020603050405020304" pitchFamily="18" charset="0"/>
              </a:rPr>
              <a:t>6. Result Display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Displays the stores and highlights the lowest available price</a:t>
            </a:r>
            <a:r>
              <a:rPr lang="en-US" dirty="0"/>
              <a:t>.</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1365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472159"/>
            <a:ext cx="10515600" cy="4884191"/>
          </a:xfrm>
        </p:spPr>
        <p:txBody>
          <a:bodyPr>
            <a:normAutofit/>
          </a:bodyPr>
          <a:lstStyle/>
          <a:p>
            <a:r>
              <a:rPr lang="en-US" sz="2600" dirty="0">
                <a:latin typeface="Times New Roman" panose="02020603050405020304" pitchFamily="18" charset="0"/>
                <a:cs typeface="Times New Roman" panose="02020603050405020304" pitchFamily="18" charset="0"/>
              </a:rPr>
              <a:t>To design and develop a </a:t>
            </a:r>
            <a:r>
              <a:rPr lang="en-US" sz="2600" b="1" dirty="0">
                <a:latin typeface="Times New Roman" panose="02020603050405020304" pitchFamily="18" charset="0"/>
                <a:cs typeface="Times New Roman" panose="02020603050405020304" pitchFamily="18" charset="0"/>
              </a:rPr>
              <a:t>Lowest Price Finder System using Java and Data Structures</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help users </a:t>
            </a:r>
            <a:r>
              <a:rPr lang="en-US" sz="2600" b="1" dirty="0">
                <a:latin typeface="Times New Roman" panose="02020603050405020304" pitchFamily="18" charset="0"/>
                <a:cs typeface="Times New Roman" panose="02020603050405020304" pitchFamily="18" charset="0"/>
              </a:rPr>
              <a:t>identify the lowest price of a product within a desired location</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reduce the </a:t>
            </a:r>
            <a:r>
              <a:rPr lang="en-US" sz="2600" b="1" dirty="0">
                <a:latin typeface="Times New Roman" panose="02020603050405020304" pitchFamily="18" charset="0"/>
                <a:cs typeface="Times New Roman" panose="02020603050405020304" pitchFamily="18" charset="0"/>
              </a:rPr>
              <a:t>time and effort required to manually compare prices across multiple stores</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implement </a:t>
            </a:r>
            <a:r>
              <a:rPr lang="en-US" sz="2600" b="1" dirty="0">
                <a:latin typeface="Times New Roman" panose="02020603050405020304" pitchFamily="18" charset="0"/>
                <a:cs typeface="Times New Roman" panose="02020603050405020304" pitchFamily="18" charset="0"/>
              </a:rPr>
              <a:t>efficient searching and comparison algorithms</a:t>
            </a:r>
            <a:r>
              <a:rPr lang="en-US" sz="2600" dirty="0">
                <a:latin typeface="Times New Roman" panose="02020603050405020304" pitchFamily="18" charset="0"/>
                <a:cs typeface="Times New Roman" panose="02020603050405020304" pitchFamily="18" charset="0"/>
              </a:rPr>
              <a:t> for price analysis.</a:t>
            </a:r>
          </a:p>
          <a:p>
            <a:r>
              <a:rPr lang="en-US" sz="2600" dirty="0">
                <a:latin typeface="Times New Roman" panose="02020603050405020304" pitchFamily="18" charset="0"/>
                <a:cs typeface="Times New Roman" panose="02020603050405020304" pitchFamily="18" charset="0"/>
              </a:rPr>
              <a:t>To simplify the process of </a:t>
            </a:r>
            <a:r>
              <a:rPr lang="en-US" sz="2600" b="1" dirty="0">
                <a:latin typeface="Times New Roman" panose="02020603050405020304" pitchFamily="18" charset="0"/>
                <a:cs typeface="Times New Roman" panose="02020603050405020304" pitchFamily="18" charset="0"/>
              </a:rPr>
              <a:t>finding affordable products near the user</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improve </a:t>
            </a:r>
            <a:r>
              <a:rPr lang="en-US" sz="2600" b="1" dirty="0">
                <a:latin typeface="Times New Roman" panose="02020603050405020304" pitchFamily="18" charset="0"/>
                <a:cs typeface="Times New Roman" panose="02020603050405020304" pitchFamily="18" charset="0"/>
              </a:rPr>
              <a:t>decision making by presenting the cheapest available option clearly</a:t>
            </a:r>
            <a:r>
              <a:rPr lang="en-US" sz="2600" dirty="0">
                <a:latin typeface="Times New Roman" panose="02020603050405020304" pitchFamily="18" charset="0"/>
                <a:cs typeface="Times New Roman" panose="02020603050405020304" pitchFamily="18" charset="0"/>
              </a:rPr>
              <a:t>.</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43918"/>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838200" y="956441"/>
            <a:ext cx="10515600" cy="5220522"/>
          </a:xfrm>
        </p:spPr>
        <p:txBody>
          <a:bodyPr>
            <a:normAutofit fontScale="47500" lnSpcReduction="20000"/>
          </a:bodyPr>
          <a:lstStyle/>
          <a:p>
            <a:r>
              <a:rPr lang="en-US" b="1" dirty="0">
                <a:latin typeface="Times New Roman" panose="02020603050405020304" pitchFamily="18" charset="0"/>
                <a:cs typeface="Times New Roman" panose="02020603050405020304" pitchFamily="18" charset="0"/>
              </a:rPr>
              <a:t>CO1</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Analyze problem statements using asymptotic notation (Big-O, Ω, Θ).</a:t>
            </a:r>
          </a:p>
          <a:p>
            <a:r>
              <a:rPr lang="en-US" dirty="0">
                <a:latin typeface="Times New Roman" panose="02020603050405020304" pitchFamily="18" charset="0"/>
                <a:cs typeface="Times New Roman" panose="02020603050405020304" pitchFamily="18" charset="0"/>
              </a:rPr>
              <a:t>Compare algorithm efficiency based on time and space complexity.</a:t>
            </a:r>
          </a:p>
          <a:p>
            <a:r>
              <a:rPr lang="en-US" dirty="0">
                <a:latin typeface="Times New Roman" panose="02020603050405020304" pitchFamily="18" charset="0"/>
                <a:cs typeface="Times New Roman" panose="02020603050405020304" pitchFamily="18" charset="0"/>
              </a:rPr>
              <a:t>Implement and evaluate searching and sorting algorithms in Java.</a:t>
            </a:r>
          </a:p>
          <a:p>
            <a:r>
              <a:rPr lang="en-US" b="1" dirty="0">
                <a:latin typeface="Times New Roman" panose="02020603050405020304" pitchFamily="18" charset="0"/>
                <a:cs typeface="Times New Roman" panose="02020603050405020304" pitchFamily="18" charset="0"/>
              </a:rPr>
              <a:t>CO2</a:t>
            </a:r>
          </a:p>
          <a:p>
            <a:r>
              <a:rPr lang="en-US" dirty="0">
                <a:latin typeface="Times New Roman" panose="02020603050405020304" pitchFamily="18" charset="0"/>
                <a:cs typeface="Times New Roman" panose="02020603050405020304" pitchFamily="18" charset="0"/>
              </a:rPr>
              <a:t>Design and implement Abstract Data Types (ADTs) using arrays and linked lists.</a:t>
            </a:r>
          </a:p>
          <a:p>
            <a:r>
              <a:rPr lang="en-US" dirty="0">
                <a:latin typeface="Times New Roman" panose="02020603050405020304" pitchFamily="18" charset="0"/>
                <a:cs typeface="Times New Roman" panose="02020603050405020304" pitchFamily="18" charset="0"/>
              </a:rPr>
              <a:t>Perform operations such as insertion, deletion, searching, and traversal.</a:t>
            </a:r>
          </a:p>
          <a:p>
            <a:r>
              <a:rPr lang="en-US" dirty="0">
                <a:latin typeface="Times New Roman" panose="02020603050405020304" pitchFamily="18" charset="0"/>
                <a:cs typeface="Times New Roman" panose="02020603050405020304" pitchFamily="18" charset="0"/>
              </a:rPr>
              <a:t>Evaluate advantages and limitations of different data structures.</a:t>
            </a:r>
          </a:p>
          <a:p>
            <a:r>
              <a:rPr lang="en-US" b="1" dirty="0">
                <a:latin typeface="Times New Roman" panose="02020603050405020304" pitchFamily="18" charset="0"/>
                <a:cs typeface="Times New Roman" panose="02020603050405020304" pitchFamily="18" charset="0"/>
              </a:rPr>
              <a:t>CO3</a:t>
            </a:r>
          </a:p>
          <a:p>
            <a:r>
              <a:rPr lang="en-US" dirty="0">
                <a:latin typeface="Times New Roman" panose="02020603050405020304" pitchFamily="18" charset="0"/>
                <a:cs typeface="Times New Roman" panose="02020603050405020304" pitchFamily="18" charset="0"/>
              </a:rPr>
              <a:t>Apply stacks and queues to solve real-world workflow problems.</a:t>
            </a:r>
          </a:p>
          <a:p>
            <a:r>
              <a:rPr lang="en-US" dirty="0">
                <a:latin typeface="Times New Roman" panose="02020603050405020304" pitchFamily="18" charset="0"/>
                <a:cs typeface="Times New Roman" panose="02020603050405020304" pitchFamily="18" charset="0"/>
              </a:rPr>
              <a:t>Implement circular queues, deques, heaps, and priority queues.</a:t>
            </a:r>
          </a:p>
          <a:p>
            <a:r>
              <a:rPr lang="en-US" dirty="0">
                <a:latin typeface="Times New Roman" panose="02020603050405020304" pitchFamily="18" charset="0"/>
                <a:cs typeface="Times New Roman" panose="02020603050405020304" pitchFamily="18" charset="0"/>
              </a:rPr>
              <a:t>Analyze performance compared to other linear data structures.</a:t>
            </a:r>
          </a:p>
          <a:p>
            <a:r>
              <a:rPr lang="en-US" b="1" dirty="0">
                <a:latin typeface="Times New Roman" panose="02020603050405020304" pitchFamily="18" charset="0"/>
                <a:cs typeface="Times New Roman" panose="02020603050405020304" pitchFamily="18" charset="0"/>
              </a:rPr>
              <a:t>CO4</a:t>
            </a:r>
          </a:p>
          <a:p>
            <a:r>
              <a:rPr lang="en-US" dirty="0">
                <a:latin typeface="Times New Roman" panose="02020603050405020304" pitchFamily="18" charset="0"/>
                <a:cs typeface="Times New Roman" panose="02020603050405020304" pitchFamily="18" charset="0"/>
              </a:rPr>
              <a:t>Design hash-based data structures using hashing techniques.</a:t>
            </a:r>
          </a:p>
          <a:p>
            <a:r>
              <a:rPr lang="en-US" dirty="0">
                <a:latin typeface="Times New Roman" panose="02020603050405020304" pitchFamily="18" charset="0"/>
                <a:cs typeface="Times New Roman" panose="02020603050405020304" pitchFamily="18" charset="0"/>
              </a:rPr>
              <a:t>Implement hash tables with chaining and open addressing.</a:t>
            </a:r>
          </a:p>
          <a:p>
            <a:r>
              <a:rPr lang="en-US" dirty="0">
                <a:latin typeface="Times New Roman" panose="02020603050405020304" pitchFamily="18" charset="0"/>
                <a:cs typeface="Times New Roman" panose="02020603050405020304" pitchFamily="18" charset="0"/>
              </a:rPr>
              <a:t>Utilize Java Collections (List, Queue, Deque, Map) for efficient solutions.</a:t>
            </a:r>
          </a:p>
          <a:p>
            <a:r>
              <a:rPr lang="en-US" b="1" dirty="0">
                <a:latin typeface="Times New Roman" panose="02020603050405020304" pitchFamily="18" charset="0"/>
                <a:cs typeface="Times New Roman" panose="02020603050405020304" pitchFamily="18" charset="0"/>
              </a:rPr>
              <a:t>CO5</a:t>
            </a:r>
          </a:p>
          <a:p>
            <a:r>
              <a:rPr lang="en-US" dirty="0">
                <a:latin typeface="Times New Roman" panose="02020603050405020304" pitchFamily="18" charset="0"/>
                <a:cs typeface="Times New Roman" panose="02020603050405020304" pitchFamily="18" charset="0"/>
              </a:rPr>
              <a:t>Develop practical applications using linear data structures.</a:t>
            </a:r>
          </a:p>
          <a:p>
            <a:r>
              <a:rPr lang="en-US" dirty="0">
                <a:latin typeface="Times New Roman" panose="02020603050405020304" pitchFamily="18" charset="0"/>
                <a:cs typeface="Times New Roman" panose="02020603050405020304" pitchFamily="18" charset="0"/>
              </a:rPr>
              <a:t>Implement data structures to solve real-world computational problems</a:t>
            </a:r>
            <a:r>
              <a:rPr lang="en-US" sz="3200" dirty="0">
                <a:latin typeface="Times New Roman" panose="02020603050405020304" pitchFamily="18" charset="0"/>
                <a:cs typeface="Times New Roman" panose="02020603050405020304" pitchFamily="18" charset="0"/>
              </a:rPr>
              <a:t>.</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34436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838200" y="455573"/>
            <a:ext cx="10515600" cy="843565"/>
          </a:xfrm>
        </p:spPr>
        <p:txBody>
          <a:bodyPr>
            <a:normAutofit/>
          </a:bodyPr>
          <a:lstStyle/>
          <a:p>
            <a:r>
              <a:rPr lang="en-US" sz="3600" dirty="0">
                <a:latin typeface="Times New Roman" panose="02020603050405020304" pitchFamily="18" charset="0"/>
                <a:cs typeface="Times New Roman" panose="02020603050405020304" pitchFamily="18" charset="0"/>
              </a:rPr>
              <a:t>Screenshots </a:t>
            </a:r>
            <a:r>
              <a:rPr lang="en-US" sz="3600">
                <a:latin typeface="Times New Roman" panose="02020603050405020304" pitchFamily="18" charset="0"/>
                <a:cs typeface="Times New Roman" panose="02020603050405020304" pitchFamily="18" charset="0"/>
              </a:rPr>
              <a:t>for  </a:t>
            </a:r>
            <a:r>
              <a:rPr lang="en-US" sz="3600" dirty="0">
                <a:latin typeface="Times New Roman" panose="02020603050405020304" pitchFamily="18" charset="0"/>
                <a:cs typeface="Times New Roman" panose="02020603050405020304" pitchFamily="18" charset="0"/>
              </a:rPr>
              <a:t>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9</a:t>
            </a:fld>
            <a:endParaRPr lang="en-US" dirty="0"/>
          </a:p>
        </p:txBody>
      </p:sp>
      <p:pic>
        <p:nvPicPr>
          <p:cNvPr id="13" name="Content Placeholder 12">
            <a:extLst>
              <a:ext uri="{FF2B5EF4-FFF2-40B4-BE49-F238E27FC236}">
                <a16:creationId xmlns:a16="http://schemas.microsoft.com/office/drawing/2014/main" id="{283EBC59-E9F1-D7B2-3638-FE291E482226}"/>
              </a:ext>
            </a:extLst>
          </p:cNvPr>
          <p:cNvPicPr>
            <a:picLocks noGrp="1" noChangeAspect="1"/>
          </p:cNvPicPr>
          <p:nvPr>
            <p:ph idx="1"/>
          </p:nvPr>
        </p:nvPicPr>
        <p:blipFill>
          <a:blip r:embed="rId2"/>
          <a:stretch>
            <a:fillRect/>
          </a:stretch>
        </p:blipFill>
        <p:spPr>
          <a:xfrm>
            <a:off x="499266" y="1299139"/>
            <a:ext cx="6216844" cy="1938048"/>
          </a:xfrm>
          <a:prstGeom prst="rect">
            <a:avLst/>
          </a:prstGeom>
        </p:spPr>
      </p:pic>
      <p:pic>
        <p:nvPicPr>
          <p:cNvPr id="15" name="Picture 14">
            <a:extLst>
              <a:ext uri="{FF2B5EF4-FFF2-40B4-BE49-F238E27FC236}">
                <a16:creationId xmlns:a16="http://schemas.microsoft.com/office/drawing/2014/main" id="{D12D9B12-C5DC-1E78-C10A-AA4E5FA0054F}"/>
              </a:ext>
            </a:extLst>
          </p:cNvPr>
          <p:cNvPicPr>
            <a:picLocks noChangeAspect="1"/>
          </p:cNvPicPr>
          <p:nvPr/>
        </p:nvPicPr>
        <p:blipFill>
          <a:blip r:embed="rId3"/>
          <a:stretch>
            <a:fillRect/>
          </a:stretch>
        </p:blipFill>
        <p:spPr>
          <a:xfrm>
            <a:off x="409903" y="3429000"/>
            <a:ext cx="7010399" cy="2486466"/>
          </a:xfrm>
          <a:prstGeom prst="rect">
            <a:avLst/>
          </a:prstGeom>
        </p:spPr>
      </p:pic>
      <p:pic>
        <p:nvPicPr>
          <p:cNvPr id="18" name="Picture 17">
            <a:extLst>
              <a:ext uri="{FF2B5EF4-FFF2-40B4-BE49-F238E27FC236}">
                <a16:creationId xmlns:a16="http://schemas.microsoft.com/office/drawing/2014/main" id="{B6CEB0C2-120B-8BB5-C709-767EE3B45D29}"/>
              </a:ext>
            </a:extLst>
          </p:cNvPr>
          <p:cNvPicPr>
            <a:picLocks noChangeAspect="1"/>
          </p:cNvPicPr>
          <p:nvPr/>
        </p:nvPicPr>
        <p:blipFill>
          <a:blip r:embed="rId4"/>
          <a:stretch>
            <a:fillRect/>
          </a:stretch>
        </p:blipFill>
        <p:spPr>
          <a:xfrm>
            <a:off x="7914290" y="1484716"/>
            <a:ext cx="3797412" cy="4054642"/>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117032"/>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3" name="Content Placeholder 2">
            <a:extLst>
              <a:ext uri="{FF2B5EF4-FFF2-40B4-BE49-F238E27FC236}">
                <a16:creationId xmlns:a16="http://schemas.microsoft.com/office/drawing/2014/main" id="{0CE6E436-8E95-3E5A-8740-44D5B2DDDF2B}"/>
              </a:ext>
            </a:extLst>
          </p:cNvPr>
          <p:cNvSpPr>
            <a:spLocks noGrp="1" noChangeArrowheads="1"/>
          </p:cNvSpPr>
          <p:nvPr>
            <p:ph idx="1"/>
          </p:nvPr>
        </p:nvSpPr>
        <p:spPr bwMode="auto">
          <a:xfrm>
            <a:off x="1180618" y="1243187"/>
            <a:ext cx="1064352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sz="2400" dirty="0"/>
              <a:t>The </a:t>
            </a:r>
            <a:r>
              <a:rPr lang="en-US" sz="2400" dirty="0" err="1"/>
              <a:t>PriceWise</a:t>
            </a:r>
            <a:r>
              <a:rPr lang="en-US" sz="2400" dirty="0"/>
              <a:t> Recommender System was successfully developed in Java, leveraging core DSA concepts to solve the real-world problem of finding the cheapest product prices across multiple locations. The system efficiently utilizes a HashMap for fast product lookups, a </a:t>
            </a:r>
            <a:r>
              <a:rPr lang="en-US" sz="2400" dirty="0" err="1"/>
              <a:t>MinHeap</a:t>
            </a:r>
            <a:r>
              <a:rPr lang="en-US" sz="2400" dirty="0"/>
              <a:t> </a:t>
            </a:r>
            <a:r>
              <a:rPr lang="en-US" sz="2400" dirty="0" err="1"/>
              <a:t>PriorityQueue</a:t>
            </a:r>
            <a:r>
              <a:rPr lang="en-US" sz="2400" dirty="0"/>
              <a:t> for price ranking, and a </a:t>
            </a:r>
            <a:r>
              <a:rPr lang="en-US" sz="2400" dirty="0" err="1"/>
              <a:t>TreeMap</a:t>
            </a:r>
            <a:r>
              <a:rPr lang="en-US" sz="2400" dirty="0"/>
              <a:t> for alphabetical browsing. A clean terminal-based interface with input validation and case-insensitive search ensures a smooth and user-friendly experience. The architecture is highly scalable, allowing new products, stores, and locations to be added effortlessly without altering the core logic. Overall, this project demonstrates that fundamental data structures and algorithms are the foundation of practical, real-world applications used in everyday consumer decision-making.</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8912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1815661" y="365125"/>
            <a:ext cx="10515600" cy="980199"/>
          </a:xfrm>
        </p:spPr>
        <p:txBody>
          <a:bodyPr>
            <a:normAutofit/>
          </a:bodyPr>
          <a:lstStyle/>
          <a:p>
            <a:r>
              <a:rPr lang="en-US" sz="3600" dirty="0">
                <a:latin typeface="Times New Roman" panose="02020603050405020304" pitchFamily="18" charset="0"/>
                <a:cs typeface="Times New Roman" panose="02020603050405020304" pitchFamily="18" charset="0"/>
              </a:rPr>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12" name="Content Placeholder 11">
            <a:extLst>
              <a:ext uri="{FF2B5EF4-FFF2-40B4-BE49-F238E27FC236}">
                <a16:creationId xmlns:a16="http://schemas.microsoft.com/office/drawing/2014/main" id="{6C47FA7A-1CE7-72C2-A7F6-14A6637C1F0B}"/>
              </a:ext>
            </a:extLst>
          </p:cNvPr>
          <p:cNvPicPr>
            <a:picLocks noGrp="1" noChangeAspect="1"/>
          </p:cNvPicPr>
          <p:nvPr>
            <p:ph idx="1"/>
          </p:nvPr>
        </p:nvPicPr>
        <p:blipFill>
          <a:blip r:embed="rId2"/>
          <a:stretch>
            <a:fillRect/>
          </a:stretch>
        </p:blipFill>
        <p:spPr>
          <a:xfrm>
            <a:off x="689741" y="1552355"/>
            <a:ext cx="3040118" cy="2966278"/>
          </a:xfrm>
          <a:prstGeom prst="rect">
            <a:avLst/>
          </a:prstGeom>
        </p:spPr>
      </p:pic>
      <p:pic>
        <p:nvPicPr>
          <p:cNvPr id="14" name="Picture 13">
            <a:extLst>
              <a:ext uri="{FF2B5EF4-FFF2-40B4-BE49-F238E27FC236}">
                <a16:creationId xmlns:a16="http://schemas.microsoft.com/office/drawing/2014/main" id="{00808B89-045C-B2D6-9D84-4EC2192F8CD8}"/>
              </a:ext>
            </a:extLst>
          </p:cNvPr>
          <p:cNvPicPr>
            <a:picLocks noChangeAspect="1"/>
          </p:cNvPicPr>
          <p:nvPr/>
        </p:nvPicPr>
        <p:blipFill>
          <a:blip r:embed="rId3"/>
          <a:stretch>
            <a:fillRect/>
          </a:stretch>
        </p:blipFill>
        <p:spPr>
          <a:xfrm>
            <a:off x="4653454" y="1571463"/>
            <a:ext cx="3040119" cy="2997583"/>
          </a:xfrm>
          <a:prstGeom prst="rect">
            <a:avLst/>
          </a:prstGeom>
        </p:spPr>
      </p:pic>
      <p:pic>
        <p:nvPicPr>
          <p:cNvPr id="16" name="Picture 15">
            <a:extLst>
              <a:ext uri="{FF2B5EF4-FFF2-40B4-BE49-F238E27FC236}">
                <a16:creationId xmlns:a16="http://schemas.microsoft.com/office/drawing/2014/main" id="{0BB08F41-C3CC-C7E6-6C03-4057BE00B9C9}"/>
              </a:ext>
            </a:extLst>
          </p:cNvPr>
          <p:cNvPicPr>
            <a:picLocks noChangeAspect="1"/>
          </p:cNvPicPr>
          <p:nvPr/>
        </p:nvPicPr>
        <p:blipFill>
          <a:blip r:embed="rId4"/>
          <a:stretch>
            <a:fillRect/>
          </a:stretch>
        </p:blipFill>
        <p:spPr>
          <a:xfrm>
            <a:off x="8153400" y="1463924"/>
            <a:ext cx="3331779" cy="3337407"/>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latin typeface="Times New Roman" panose="02020603050405020304" pitchFamily="18" charset="0"/>
                <a:cs typeface="Times New Roman" panose="02020603050405020304" pitchFamily="18" charset="0"/>
              </a:rPr>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3772</TotalTime>
  <Words>1079</Words>
  <Application>Microsoft Office PowerPoint</Application>
  <PresentationFormat>Widescreen</PresentationFormat>
  <Paragraphs>105</Paragraphs>
  <Slides>12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Title: Location-Based Price Recommender System</vt:lpstr>
      <vt:lpstr>Abstract</vt:lpstr>
      <vt:lpstr>Existing System </vt:lpstr>
      <vt:lpstr>Proposed System</vt:lpstr>
      <vt:lpstr>System Architecture</vt:lpstr>
      <vt:lpstr>Project Modules</vt:lpstr>
      <vt:lpstr>Objectives</vt:lpstr>
      <vt:lpstr>Co’s Attainments - DSA</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koushal konnur</cp:lastModifiedBy>
  <cp:revision>51</cp:revision>
  <dcterms:created xsi:type="dcterms:W3CDTF">2022-05-20T10:20:31Z</dcterms:created>
  <dcterms:modified xsi:type="dcterms:W3CDTF">2026-03-12T03:01:08Z</dcterms:modified>
</cp:coreProperties>
</file>